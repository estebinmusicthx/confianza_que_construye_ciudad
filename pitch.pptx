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D3DC"/>
                </a:solidFill>
                <a:latin typeface="Arial"/>
              </a:rPr>
              <a:t>DATAJAM 2  ·  DATOS PARA LA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91672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 i="0">
                <a:solidFill>
                  <a:srgbClr val="FFFFFF"/>
                </a:solidFill>
                <a:latin typeface="Arial"/>
              </a:rPr>
              <a:t>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CC00"/>
                </a:solidFill>
                <a:latin typeface="Arial"/>
              </a:rPr>
              <a:t>que construye ciudad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854015" cy="685800"/>
          </a:xfrm>
          <a:prstGeom prst="rect">
            <a:avLst/>
          </a:prstGeom>
        </p:spPr>
      </p:pic>
      <p:pic>
        <p:nvPicPr>
          <p:cNvPr id="3" name="Picture 2" descr="bogo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559" y="566928"/>
            <a:ext cx="77189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874519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C00"/>
                </a:solidFill>
                <a:latin typeface="Arial"/>
              </a:rPr>
              <a:t>DATAJAM 2  ·  DATOS PARA LA TRANSPARENCIA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9692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"/>
              </a:rPr>
              <a:t>Una ciudad no se construye solo con impuestos. </a:t>
            </a:r>
            <a:r>
              <a:rPr sz="4300" b="1" i="0">
                <a:solidFill>
                  <a:srgbClr val="FFCC00"/>
                </a:solidFill>
                <a:latin typeface="Arial"/>
              </a:rPr>
              <a:t>Se construye con confianza.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D3DC"/>
                </a:solidFill>
                <a:latin typeface="Arial"/>
              </a:rPr>
              <a:t>Equipo SOLUTIONSCITY  ·  Caja de Vivienda Popular (CVP)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C00"/>
                </a:solidFill>
                <a:latin typeface="Arial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La información existe. Pero está rota en pedazos.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875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Aporte voluntario, cumplimiento predial, condiciones sociales y proyectos ciudadanos viven separados entre entidades y cortes de tiempo. El ciudadano paga… pero no ve. Y lo que no se ve, no construye confianza.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116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D3DC"/>
                </a:solidFill>
                <a:latin typeface="Arial"/>
              </a:rPr>
              <a:t>Dejamos de preguntar cuánto más puede aportar la gente.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Arial"/>
              </a:rPr>
              <a:t>¿Cuánto más puede </a:t>
            </a:r>
            <a:r>
              <a:rPr sz="5600" b="1" i="0">
                <a:solidFill>
                  <a:srgbClr val="FFCC00"/>
                </a:solidFill>
                <a:latin typeface="Arial"/>
              </a:rPr>
              <a:t>explicar</a:t>
            </a:r>
            <a:r>
              <a:rPr sz="5600" b="1" i="0">
                <a:solidFill>
                  <a:srgbClr val="FFFFFF"/>
                </a:solidFill>
                <a:latin typeface="Arial"/>
              </a:rPr>
              <a:t> la ciudad?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C00"/>
                </a:solidFill>
                <a:latin typeface="Arial"/>
              </a:rPr>
              <a:t>LA INNOVACIÓN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ITCC: un mapa de confianza, no un ranking de culpables.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Mide, de 0 a 100 y con las mismas reglas para las 20 localidades, qué tan favorable es cada territorio para hablar de confianza. No juzga personas. No inventa causas. Mide condiciones.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617720"/>
            <a:ext cx="3383280" cy="141732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0–100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D3DC"/>
                </a:solidFill>
                <a:latin typeface="Arial"/>
              </a:rPr>
              <a:t>escala comparable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617720"/>
            <a:ext cx="3383280" cy="141732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D3DC"/>
                </a:solidFill>
                <a:latin typeface="Arial"/>
              </a:rPr>
              <a:t>localidades, mismas reglas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4617720"/>
            <a:ext cx="3383280" cy="141732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D3DC"/>
                </a:solidFill>
                <a:latin typeface="Arial"/>
              </a:rPr>
              <a:t>fuentes públicas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686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C00"/>
                </a:solidFill>
                <a:latin typeface="Arial"/>
              </a:rPr>
              <a:t>EL MODELO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No hay una Bogotá. Hay cuatro.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514600"/>
            <a:ext cx="5010912" cy="1828800"/>
          </a:xfrm>
          <a:prstGeom prst="roundRect">
            <a:avLst>
              <a:gd name="adj" fmla="val 14000"/>
            </a:avLst>
          </a:prstGeom>
          <a:solidFill>
            <a:srgbClr val="8A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Embajadores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D3DC"/>
                </a:solidFill>
                <a:latin typeface="Arial"/>
              </a:rPr>
              <a:t>Alta confianza y alto cumplimiento: activar vocerías y reconocimiento.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514600"/>
            <a:ext cx="5010912" cy="1828800"/>
          </a:xfrm>
          <a:prstGeom prst="roundRect">
            <a:avLst>
              <a:gd name="adj" fmla="val 14000"/>
            </a:avLst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A2500"/>
                </a:solidFill>
                <a:latin typeface="Arial"/>
              </a:rPr>
              <a:t>Comunicar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A2500"/>
                </a:solidFill>
                <a:latin typeface="Arial"/>
              </a:rPr>
              <a:t>Buenas condiciones, menor cumplimiento: mostrar resultados y beneficios.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526280"/>
            <a:ext cx="5010912" cy="1828800"/>
          </a:xfrm>
          <a:prstGeom prst="roundRect">
            <a:avLst>
              <a:gd name="adj" fmla="val 14000"/>
            </a:avLst>
          </a:prstGeom>
          <a:solidFill>
            <a:srgbClr val="0F9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Reconocer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Cumplen, pero la confianza es frágil: agradecer y reforzar transparencia.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526280"/>
            <a:ext cx="5010912" cy="1828800"/>
          </a:xfrm>
          <a:prstGeom prst="roundRect">
            <a:avLst>
              <a:gd name="adj" fmla="val 14000"/>
            </a:avLst>
          </a:prstGeom>
          <a:solidFill>
            <a:srgbClr val="1E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Transparencia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Más fricción: pedagogía, trazabilidad y presencia institucional.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60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C00"/>
                </a:solidFill>
                <a:latin typeface="Arial"/>
              </a:rPr>
              <a:t>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Programa </a:t>
            </a:r>
            <a:r>
              <a:rPr sz="3400" b="1" i="0">
                <a:solidFill>
                  <a:srgbClr val="FFCC00"/>
                </a:solidFill>
                <a:latin typeface="Arial"/>
              </a:rPr>
              <a:t>Confianza que Construye Ciudad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735" y="3017520"/>
            <a:ext cx="2048256" cy="265176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CC00"/>
                </a:solidFill>
                <a:latin typeface="Arial"/>
              </a:rPr>
              <a:t>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Trazabilidad ciudadana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3DC"/>
                </a:solidFill>
                <a:latin typeface="Arial"/>
              </a:rPr>
              <a:t>Mostrar abiertamente cómo se usa el aporte.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9727" y="3017520"/>
            <a:ext cx="2048256" cy="265176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CC00"/>
                </a:solidFill>
                <a:latin typeface="Arial"/>
              </a:rPr>
              <a:t>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Reconocimiento inteligente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3DC"/>
                </a:solidFill>
                <a:latin typeface="Arial"/>
              </a:rPr>
              <a:t>Del gesto (la tarjeta del Metro) a política permanente.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1719" y="3017520"/>
            <a:ext cx="2048256" cy="265176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CC00"/>
                </a:solidFill>
                <a:latin typeface="Arial"/>
              </a:rPr>
              <a:t>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Pedagogía diferenciada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3DC"/>
                </a:solidFill>
                <a:latin typeface="Arial"/>
              </a:rPr>
              <a:t>Un mensaje por territorio, no una campaña genérica.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93711" y="3017520"/>
            <a:ext cx="2048256" cy="265176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CC00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ITCC vivo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3DC"/>
                </a:solidFill>
                <a:latin typeface="Arial"/>
              </a:rPr>
              <a:t>Un índice que se actualiza con datos abiertos.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5703" y="3017520"/>
            <a:ext cx="2048256" cy="265176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CC00"/>
                </a:solidFill>
                <a:latin typeface="Arial"/>
              </a:rPr>
              <a:t>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Gobierno abierto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3DC"/>
                </a:solidFill>
                <a:latin typeface="Arial"/>
              </a:rPr>
              <a:t>Decidir con evidencia y límites declarados.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La confianza no se decreta. </a:t>
            </a:r>
            <a:r>
              <a:rPr sz="4400" b="1" i="0">
                <a:solidFill>
                  <a:srgbClr val="FFCC00"/>
                </a:solidFill>
                <a:latin typeface="Arial"/>
              </a:rPr>
              <a:t>Se demuestra.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3977639"/>
            <a:ext cx="2240280" cy="123444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185.485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3DC"/>
                </a:solidFill>
                <a:latin typeface="Arial"/>
              </a:rPr>
              <a:t>contribuyentes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977639"/>
            <a:ext cx="2240280" cy="123444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$7,1 mil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3DC"/>
                </a:solidFill>
                <a:latin typeface="Arial"/>
              </a:rPr>
              <a:t>aportados (COP)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59" y="3977639"/>
            <a:ext cx="2240280" cy="1234440"/>
          </a:xfrm>
          <a:prstGeom prst="roundRect">
            <a:avLst>
              <a:gd name="adj" fmla="val 14000"/>
            </a:avLst>
          </a:prstGeom>
          <a:solidFill>
            <a:srgbClr val="C1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3DC"/>
                </a:solidFill>
                <a:latin typeface="Arial"/>
              </a:rPr>
              <a:t>localidades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965960"/>
            <a:ext cx="2514600" cy="2514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</a:p>
        </p:txBody>
      </p:sp>
      <p:pic>
        <p:nvPicPr>
          <p:cNvPr id="7" name="Picture 6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2212848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15400" y="457200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Explórelo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C00"/>
                </a:solidFill>
                <a:latin typeface="Arial"/>
              </a:rPr>
              <a:t>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SOLUTIONSCITY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D3DC"/>
                </a:solidFill>
                <a:latin typeface="Arial"/>
              </a:rPr>
              <a:t>en representación de la Caja de Vivienda Popular — CVP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Julio Esteban Fuentes Herrera</a:t>
            </a:r>
            <a:r>
              <a:rPr sz="1600" b="0" i="0">
                <a:solidFill>
                  <a:srgbClr val="C2BCB4"/>
                </a:solidFill>
                <a:latin typeface="Arial"/>
              </a:rPr>
              <a:t>  —  Perfil técnico en análisis y visualización de datos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Juan Carlos Sanabria Medina</a:t>
            </a:r>
            <a:r>
              <a:rPr sz="1600" b="0" i="0">
                <a:solidFill>
                  <a:srgbClr val="C2BCB4"/>
                </a:solidFill>
                <a:latin typeface="Arial"/>
              </a:rPr>
              <a:t>  —  Perfil de análisis sectorial o de política pública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Diego Armando Gonzalez Quiroga</a:t>
            </a:r>
            <a:r>
              <a:rPr sz="1600" b="0" i="0">
                <a:solidFill>
                  <a:srgbClr val="C2BCB4"/>
                </a:solidFill>
                <a:latin typeface="Arial"/>
              </a:rPr>
              <a:t>  —  Perfil complementario (temático, metodológico o técnico)</a:t>
            </a:r>
          </a:p>
        </p:txBody>
      </p:sp>
      <p:pic>
        <p:nvPicPr>
          <p:cNvPr id="6" name="Picture 5" descr="dataj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23560"/>
            <a:ext cx="1673707" cy="868680"/>
          </a:xfrm>
          <a:prstGeom prst="rect">
            <a:avLst/>
          </a:prstGeom>
        </p:spPr>
      </p:pic>
      <p:pic>
        <p:nvPicPr>
          <p:cNvPr id="7" name="Picture 6" descr="d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715000"/>
            <a:ext cx="797081" cy="640080"/>
          </a:xfrm>
          <a:prstGeom prst="rect">
            <a:avLst/>
          </a:prstGeom>
        </p:spPr>
      </p:pic>
      <p:pic>
        <p:nvPicPr>
          <p:cNvPr id="8" name="Picture 7" descr="bogo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5806440"/>
            <a:ext cx="771896" cy="457200"/>
          </a:xfrm>
          <a:prstGeom prst="rect">
            <a:avLst/>
          </a:prstGeom>
        </p:spPr>
      </p:pic>
      <p:pic>
        <p:nvPicPr>
          <p:cNvPr id="9" name="Picture 8" descr="in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5852160"/>
            <a:ext cx="3253394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